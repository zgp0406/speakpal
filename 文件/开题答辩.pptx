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custDataLst>
    <p:tags r:id="rId17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圆角矩形 2"/>
          <p:cNvSpPr>
            <a:spLocks noGrp="1"/>
          </p:cNvSpPr>
          <p:nvPr/>
        </p:nvSpPr>
        <p:spPr>
          <a:xfrm>
            <a:off x="723900" y="742950"/>
            <a:ext cx="4476750" cy="5334000"/>
          </a:xfrm>
          <a:prstGeom prst="roundRect">
            <a:avLst>
              <a:gd name="adj" fmla="val 1702"/>
            </a:avLst>
          </a:prstGeom>
          <a:gradFill>
            <a:gsLst>
              <a:gs pos="0">
                <a:srgbClr val="EFF6FF"/>
              </a:gs>
              <a:gs pos="100000">
                <a:srgbClr val="FFFFFF"/>
              </a:gs>
            </a:gsLst>
            <a:lin ang="8700000"/>
          </a:gra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00750" y="1123950"/>
            <a:ext cx="53340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面向儿童英语发音的数字人口型与舌位可视化纠错系统</a:t>
            </a:r>
            <a:endParaRPr sz="2850" b="1">
              <a:solidFill>
                <a:srgbClr val="11182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38850" y="302895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创新训练项目</a:t>
            </a:r>
            <a:endParaRPr sz="15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38850" y="3524250"/>
            <a:ext cx="4000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成员：</a:t>
            </a:r>
            <a:r>
              <a:rPr lang="zh-CN"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周广鹏</a:t>
            </a:r>
            <a:r>
              <a: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郭书豪</a:t>
            </a:r>
            <a:r>
              <a: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王悠然</a:t>
            </a:r>
            <a:endParaRPr sz="13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指导教师：</a:t>
            </a:r>
            <a:r>
              <a:rPr lang="zh-CN"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郝思媛</a:t>
            </a:r>
            <a:r>
              <a: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老师</a:t>
            </a:r>
            <a:endParaRPr sz="13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57900" y="4867275"/>
            <a:ext cx="4000500" cy="609600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085975"/>
            <a:ext cx="3857625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2" name="Shape 902"/>
          <p:cNvSpPr/>
          <p:nvPr/>
        </p:nvSpPr>
        <p:spPr>
          <a:xfrm>
            <a:off x="304800" y="228600"/>
            <a:ext cx="623570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zh-CN"/>
          </a:p>
        </p:txBody>
      </p:sp>
      <p:sp>
        <p:nvSpPr>
          <p:cNvPr id="932" name="Shape 932"/>
          <p:cNvSpPr/>
          <p:nvPr/>
        </p:nvSpPr>
        <p:spPr>
          <a:xfrm>
            <a:off x="876300" y="257175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11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面向儿童英语发音的数字人口型与舌位可视化纠错系统</a:t>
            </a:r>
            <a:endParaRPr lang="zh-CN" sz="11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0" name="Shape 100"/>
          <p:cNvSpPr/>
          <p:nvPr/>
        </p:nvSpPr>
        <p:spPr>
          <a:xfrm>
            <a:off x="685800" y="781050"/>
            <a:ext cx="7810500" cy="590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3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项目背景</a:t>
            </a:r>
            <a:endParaRPr lang="zh-CN"/>
          </a:p>
        </p:txBody>
      </p:sp>
      <p:sp>
        <p:nvSpPr>
          <p:cNvPr id="101" name="Shape 101"/>
          <p:cNvSpPr/>
          <p:nvPr/>
        </p:nvSpPr>
        <p:spPr>
          <a:xfrm>
            <a:off x="704850" y="13906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英语启蒙需求增长，但发音习惯一旦固化，后期纠正成本更高</a:t>
            </a:r>
            <a:endParaRPr lang="zh-CN"/>
          </a:p>
        </p:txBody>
      </p:sp>
      <p:sp>
        <p:nvSpPr>
          <p:cNvPr id="111" name="Shape 111"/>
          <p:cNvSpPr/>
          <p:nvPr/>
        </p:nvSpPr>
        <p:spPr>
          <a:xfrm>
            <a:off x="4495800" y="3393440"/>
            <a:ext cx="4174490" cy="119761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儿童英语启蒙阶段容易形成错误发音习惯</a:t>
            </a:r>
            <a:endParaRPr lang="zh-CN"/>
          </a:p>
        </p:txBody>
      </p:sp>
      <p:sp>
        <p:nvSpPr>
          <p:cNvPr id="112" name="Shape 112"/>
          <p:cNvSpPr/>
          <p:nvPr/>
        </p:nvSpPr>
        <p:spPr>
          <a:xfrm>
            <a:off x="7908290" y="927100"/>
            <a:ext cx="3857625" cy="1666875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pPr algn="ctr"/>
            <a:r>
              <a:rPr lang="zh-CN"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问题不是“学不学”</a:t>
            </a:r>
            <a:endParaRPr lang="zh-CN" sz="2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2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而是“错了能不能及时纠正”</a:t>
            </a:r>
            <a:endParaRPr lang="zh-CN"/>
          </a:p>
        </p:txBody>
      </p:sp>
      <p:sp>
        <p:nvSpPr>
          <p:cNvPr id="120" name="Shape 120"/>
          <p:cNvSpPr/>
          <p:nvPr/>
        </p:nvSpPr>
        <p:spPr>
          <a:xfrm>
            <a:off x="876300" y="4333875"/>
            <a:ext cx="2952750" cy="142875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60" name="Image 160"/>
          <p:cNvPicPr/>
          <p:nvPr/>
        </p:nvPicPr>
        <p:blipFill>
          <a:blip r:embed="rId1"/>
          <a:stretch>
            <a:fillRect/>
          </a:stretch>
        </p:blipFill>
        <p:spPr>
          <a:xfrm>
            <a:off x="1104900" y="4610100"/>
            <a:ext cx="609600" cy="609600"/>
          </a:xfrm>
          <a:prstGeom prst="rect">
            <a:avLst/>
          </a:prstGeom>
        </p:spPr>
      </p:pic>
      <p:sp>
        <p:nvSpPr>
          <p:cNvPr id="170" name="Shape 170"/>
          <p:cNvSpPr/>
          <p:nvPr/>
        </p:nvSpPr>
        <p:spPr>
          <a:xfrm>
            <a:off x="1924050" y="4591050"/>
            <a:ext cx="161925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发现难</a:t>
            </a:r>
            <a:endParaRPr lang="zh-CN"/>
          </a:p>
        </p:txBody>
      </p:sp>
      <p:sp>
        <p:nvSpPr>
          <p:cNvPr id="180" name="Shape 180"/>
          <p:cNvSpPr/>
          <p:nvPr/>
        </p:nvSpPr>
        <p:spPr>
          <a:xfrm>
            <a:off x="1924050" y="4972050"/>
            <a:ext cx="1676400" cy="49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4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孩子读错了</a:t>
            </a:r>
            <a:endParaRPr lang="zh-CN" sz="14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家长往往听不出来</a:t>
            </a:r>
            <a:endParaRPr lang="zh-CN"/>
          </a:p>
        </p:txBody>
      </p:sp>
      <p:sp>
        <p:nvSpPr>
          <p:cNvPr id="121" name="Shape 121"/>
          <p:cNvSpPr/>
          <p:nvPr/>
        </p:nvSpPr>
        <p:spPr>
          <a:xfrm>
            <a:off x="4495800" y="4333875"/>
            <a:ext cx="2952750" cy="142875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61" name="Image 161"/>
          <p:cNvPicPr/>
          <p:nvPr/>
        </p:nvPicPr>
        <p:blipFill>
          <a:blip r:embed="rId2"/>
          <a:stretch>
            <a:fillRect/>
          </a:stretch>
        </p:blipFill>
        <p:spPr>
          <a:xfrm>
            <a:off x="4724400" y="4610100"/>
            <a:ext cx="609600" cy="609600"/>
          </a:xfrm>
          <a:prstGeom prst="rect">
            <a:avLst/>
          </a:prstGeom>
        </p:spPr>
      </p:pic>
      <p:sp>
        <p:nvSpPr>
          <p:cNvPr id="171" name="Shape 171"/>
          <p:cNvSpPr/>
          <p:nvPr/>
        </p:nvSpPr>
        <p:spPr>
          <a:xfrm>
            <a:off x="5543550" y="4591050"/>
            <a:ext cx="161925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纠正难</a:t>
            </a:r>
            <a:endParaRPr lang="zh-CN"/>
          </a:p>
        </p:txBody>
      </p:sp>
      <p:sp>
        <p:nvSpPr>
          <p:cNvPr id="181" name="Shape 181"/>
          <p:cNvSpPr/>
          <p:nvPr/>
        </p:nvSpPr>
        <p:spPr>
          <a:xfrm>
            <a:off x="5543550" y="4972050"/>
            <a:ext cx="1676400" cy="49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4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不知道嘴型舌位</a:t>
            </a:r>
            <a:endParaRPr lang="zh-CN" sz="14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该怎么调整</a:t>
            </a:r>
            <a:endParaRPr lang="zh-CN"/>
          </a:p>
        </p:txBody>
      </p:sp>
      <p:sp>
        <p:nvSpPr>
          <p:cNvPr id="122" name="Shape 122"/>
          <p:cNvSpPr/>
          <p:nvPr/>
        </p:nvSpPr>
        <p:spPr>
          <a:xfrm>
            <a:off x="8115300" y="4333875"/>
            <a:ext cx="2952750" cy="142875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62" name="Image 162"/>
          <p:cNvPicPr/>
          <p:nvPr/>
        </p:nvPicPr>
        <p:blipFill>
          <a:blip r:embed="rId3"/>
          <a:stretch>
            <a:fillRect/>
          </a:stretch>
        </p:blipFill>
        <p:spPr>
          <a:xfrm>
            <a:off x="8343900" y="4610100"/>
            <a:ext cx="609600" cy="609600"/>
          </a:xfrm>
          <a:prstGeom prst="rect">
            <a:avLst/>
          </a:prstGeom>
        </p:spPr>
      </p:pic>
      <p:sp>
        <p:nvSpPr>
          <p:cNvPr id="172" name="Shape 172"/>
          <p:cNvSpPr/>
          <p:nvPr/>
        </p:nvSpPr>
        <p:spPr>
          <a:xfrm>
            <a:off x="9163050" y="4591050"/>
            <a:ext cx="1619250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坚持难</a:t>
            </a:r>
            <a:endParaRPr lang="zh-CN"/>
          </a:p>
        </p:txBody>
      </p:sp>
      <p:sp>
        <p:nvSpPr>
          <p:cNvPr id="182" name="Shape 182"/>
          <p:cNvSpPr/>
          <p:nvPr/>
        </p:nvSpPr>
        <p:spPr>
          <a:xfrm>
            <a:off x="9163050" y="4972050"/>
            <a:ext cx="1676400" cy="495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4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缺少持续反馈</a:t>
            </a:r>
            <a:endParaRPr lang="zh-CN" sz="14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sz="14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练习容易中断</a:t>
            </a:r>
            <a:endParaRPr lang="zh-CN"/>
          </a:p>
        </p:txBody>
      </p:sp>
      <p:pic>
        <p:nvPicPr>
          <p:cNvPr id="3" name="图片 2" descr="ChatGPT Image 2026年6月2日 21_34_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1962150"/>
            <a:ext cx="3557270" cy="2371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3" name="Shape 903"/>
          <p:cNvSpPr/>
          <p:nvPr/>
        </p:nvSpPr>
        <p:spPr>
          <a:xfrm>
            <a:off x="304800" y="228600"/>
            <a:ext cx="1013460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zh-CN"/>
          </a:p>
        </p:txBody>
      </p:sp>
      <p:sp>
        <p:nvSpPr>
          <p:cNvPr id="933" name="Shape 933"/>
          <p:cNvSpPr/>
          <p:nvPr/>
        </p:nvSpPr>
        <p:spPr>
          <a:xfrm>
            <a:off x="876300" y="257175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11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面向儿童英语发音的数字人口型与舌位可视化纠错系统</a:t>
            </a:r>
            <a:endParaRPr lang="zh-CN" sz="11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Shape 100"/>
          <p:cNvSpPr/>
          <p:nvPr/>
        </p:nvSpPr>
        <p:spPr>
          <a:xfrm>
            <a:off x="685800" y="781050"/>
            <a:ext cx="7810500" cy="590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3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痛点与解决方案</a:t>
            </a:r>
            <a:endParaRPr lang="zh-CN"/>
          </a:p>
        </p:txBody>
      </p:sp>
      <p:sp>
        <p:nvSpPr>
          <p:cNvPr id="101" name="Shape 101"/>
          <p:cNvSpPr/>
          <p:nvPr/>
        </p:nvSpPr>
        <p:spPr>
          <a:xfrm>
            <a:off x="704850" y="13906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从“只给分数”升级为“看得见、跟得练”的纠音闭环</a:t>
            </a:r>
            <a:endParaRPr lang="zh-CN"/>
          </a:p>
        </p:txBody>
      </p:sp>
      <p:sp>
        <p:nvSpPr>
          <p:cNvPr id="110" name="Shape 110"/>
          <p:cNvSpPr/>
          <p:nvPr/>
        </p:nvSpPr>
        <p:spPr>
          <a:xfrm>
            <a:off x="838200" y="1885950"/>
            <a:ext cx="3286125" cy="514350"/>
          </a:xfrm>
          <a:prstGeom prst="roundRect">
            <a:avLst/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pPr algn="ctr"/>
            <a:r>
              <a:rPr lang="zh-CN" sz="2600" b="1">
                <a:solidFill>
                  <a:srgbClr val="EF4444"/>
                </a:solidFill>
                <a:latin typeface="微软雅黑" panose="020B0503020204020204" charset="-122"/>
                <a:ea typeface="微软雅黑" panose="020B0503020204020204" charset="-122"/>
              </a:rPr>
              <a:t>当前痛点</a:t>
            </a:r>
            <a:endParaRPr lang="zh-CN"/>
          </a:p>
        </p:txBody>
      </p:sp>
      <p:sp>
        <p:nvSpPr>
          <p:cNvPr id="120" name="Shape 120"/>
          <p:cNvSpPr/>
          <p:nvPr/>
        </p:nvSpPr>
        <p:spPr>
          <a:xfrm>
            <a:off x="876300" y="2724150"/>
            <a:ext cx="321945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</p:sp>
      <p:sp>
        <p:nvSpPr>
          <p:cNvPr id="130" name="Shape 130"/>
          <p:cNvSpPr/>
          <p:nvPr/>
        </p:nvSpPr>
        <p:spPr>
          <a:xfrm>
            <a:off x="1123950" y="2838450"/>
            <a:ext cx="1546860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发音错误</a:t>
            </a:r>
            <a:endParaRPr lang="zh-CN"/>
          </a:p>
        </p:txBody>
      </p:sp>
      <p:sp>
        <p:nvSpPr>
          <p:cNvPr id="140" name="Shape 140"/>
          <p:cNvSpPr/>
          <p:nvPr/>
        </p:nvSpPr>
        <p:spPr>
          <a:xfrm>
            <a:off x="1123950" y="31242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错误被忽略，逐渐形成习惯</a:t>
            </a:r>
            <a:endParaRPr lang="zh-CN"/>
          </a:p>
        </p:txBody>
      </p:sp>
      <p:sp>
        <p:nvSpPr>
          <p:cNvPr id="121" name="Shape 121"/>
          <p:cNvSpPr/>
          <p:nvPr/>
        </p:nvSpPr>
        <p:spPr>
          <a:xfrm>
            <a:off x="876300" y="3600450"/>
            <a:ext cx="321945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</p:sp>
      <p:sp>
        <p:nvSpPr>
          <p:cNvPr id="131" name="Shape 131"/>
          <p:cNvSpPr/>
          <p:nvPr/>
        </p:nvSpPr>
        <p:spPr>
          <a:xfrm>
            <a:off x="1123950" y="3714750"/>
            <a:ext cx="1591945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不会纠音</a:t>
            </a:r>
            <a:endParaRPr lang="zh-CN"/>
          </a:p>
        </p:txBody>
      </p:sp>
      <p:sp>
        <p:nvSpPr>
          <p:cNvPr id="141" name="Shape 141"/>
          <p:cNvSpPr/>
          <p:nvPr/>
        </p:nvSpPr>
        <p:spPr>
          <a:xfrm>
            <a:off x="1123950" y="40005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只知道分数，不知道怎么改</a:t>
            </a:r>
            <a:endParaRPr lang="zh-CN"/>
          </a:p>
        </p:txBody>
      </p:sp>
      <p:sp>
        <p:nvSpPr>
          <p:cNvPr id="122" name="Shape 122"/>
          <p:cNvSpPr/>
          <p:nvPr/>
        </p:nvSpPr>
        <p:spPr>
          <a:xfrm>
            <a:off x="876300" y="4476750"/>
            <a:ext cx="321945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CA5A5"/>
            </a:solidFill>
          </a:ln>
        </p:spPr>
      </p:sp>
      <p:sp>
        <p:nvSpPr>
          <p:cNvPr id="132" name="Shape 132"/>
          <p:cNvSpPr/>
          <p:nvPr/>
        </p:nvSpPr>
        <p:spPr>
          <a:xfrm>
            <a:off x="1123950" y="4591050"/>
            <a:ext cx="1591945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1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训练中断</a:t>
            </a:r>
            <a:endParaRPr lang="zh-CN"/>
          </a:p>
        </p:txBody>
      </p:sp>
      <p:sp>
        <p:nvSpPr>
          <p:cNvPr id="142" name="Shape 142"/>
          <p:cNvSpPr/>
          <p:nvPr/>
        </p:nvSpPr>
        <p:spPr>
          <a:xfrm>
            <a:off x="1123950" y="487680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反馈弱，孩子难以坚持</a:t>
            </a:r>
            <a:endParaRPr lang="zh-CN"/>
          </a:p>
        </p:txBody>
      </p:sp>
      <p:sp>
        <p:nvSpPr>
          <p:cNvPr id="155" name="Shape 155"/>
          <p:cNvSpPr/>
          <p:nvPr/>
        </p:nvSpPr>
        <p:spPr>
          <a:xfrm>
            <a:off x="4933950" y="2724150"/>
            <a:ext cx="2095500" cy="11811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pPr algn="ctr"/>
            <a:r>
              <a:rPr lang="zh-CN"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数字人</a:t>
            </a:r>
            <a:endParaRPr lang="zh-CN" sz="26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纠音闭环</a:t>
            </a:r>
            <a:endParaRPr lang="zh-CN"/>
          </a:p>
        </p:txBody>
      </p:sp>
      <p:sp>
        <p:nvSpPr>
          <p:cNvPr id="156" name="Shape 156"/>
          <p:cNvSpPr/>
          <p:nvPr/>
        </p:nvSpPr>
        <p:spPr>
          <a:xfrm>
            <a:off x="5086350" y="4114800"/>
            <a:ext cx="1790700" cy="361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6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看得见口型</a:t>
            </a:r>
            <a:endParaRPr lang="zh-CN" sz="16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6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练得到反馈</a:t>
            </a:r>
            <a:endParaRPr lang="zh-CN"/>
          </a:p>
        </p:txBody>
      </p:sp>
      <p:cxnSp>
        <p:nvCxnSpPr>
          <p:cNvPr id="157" name="Arrow 157"/>
          <p:cNvCxnSpPr/>
          <p:nvPr/>
        </p:nvCxnSpPr>
        <p:spPr>
          <a:xfrm>
            <a:off x="4362450" y="3448050"/>
            <a:ext cx="457200" cy="9525"/>
          </a:xfrm>
          <a:prstGeom prst="line">
            <a:avLst/>
          </a:prstGeom>
          <a:ln w="50800">
            <a:solidFill>
              <a:srgbClr val="F59E0B"/>
            </a:solidFill>
            <a:tailEnd type="triangle"/>
          </a:ln>
        </p:spPr>
      </p:cxnSp>
      <p:cxnSp>
        <p:nvCxnSpPr>
          <p:cNvPr id="158" name="Arrow 158"/>
          <p:cNvCxnSpPr/>
          <p:nvPr/>
        </p:nvCxnSpPr>
        <p:spPr>
          <a:xfrm>
            <a:off x="7143750" y="3448050"/>
            <a:ext cx="457200" cy="9525"/>
          </a:xfrm>
          <a:prstGeom prst="line">
            <a:avLst/>
          </a:prstGeom>
          <a:ln w="50800">
            <a:solidFill>
              <a:srgbClr val="2563EB"/>
            </a:solidFill>
            <a:tailEnd type="triangle"/>
          </a:ln>
        </p:spPr>
      </p:cxnSp>
      <p:sp>
        <p:nvSpPr>
          <p:cNvPr id="160" name="Shape 160"/>
          <p:cNvSpPr/>
          <p:nvPr/>
        </p:nvSpPr>
        <p:spPr>
          <a:xfrm>
            <a:off x="8048625" y="1885950"/>
            <a:ext cx="3286125" cy="51435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pPr algn="ctr"/>
            <a:r>
              <a:rPr lang="zh-CN" sz="26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我们的方案</a:t>
            </a:r>
            <a:endParaRPr lang="zh-CN"/>
          </a:p>
        </p:txBody>
      </p:sp>
      <p:sp>
        <p:nvSpPr>
          <p:cNvPr id="170" name="Shape 170"/>
          <p:cNvSpPr/>
          <p:nvPr/>
        </p:nvSpPr>
        <p:spPr>
          <a:xfrm>
            <a:off x="8096250" y="2590800"/>
            <a:ext cx="3238500" cy="4953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</p:sp>
      <p:sp>
        <p:nvSpPr>
          <p:cNvPr id="180" name="Shape 180"/>
          <p:cNvSpPr/>
          <p:nvPr/>
        </p:nvSpPr>
        <p:spPr>
          <a:xfrm>
            <a:off x="8334375" y="2686050"/>
            <a:ext cx="1047750" cy="2476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9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录音</a:t>
            </a:r>
            <a:endParaRPr lang="zh-CN"/>
          </a:p>
        </p:txBody>
      </p:sp>
      <p:sp>
        <p:nvSpPr>
          <p:cNvPr id="190" name="Shape 190"/>
          <p:cNvSpPr/>
          <p:nvPr/>
        </p:nvSpPr>
        <p:spPr>
          <a:xfrm>
            <a:off x="9525000" y="2733675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采集儿童朗读音频</a:t>
            </a:r>
            <a:endParaRPr lang="zh-CN"/>
          </a:p>
        </p:txBody>
      </p:sp>
      <p:sp>
        <p:nvSpPr>
          <p:cNvPr id="171" name="Shape 171"/>
          <p:cNvSpPr/>
          <p:nvPr/>
        </p:nvSpPr>
        <p:spPr>
          <a:xfrm>
            <a:off x="8096250" y="3257550"/>
            <a:ext cx="3238500" cy="4953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</p:sp>
      <p:sp>
        <p:nvSpPr>
          <p:cNvPr id="181" name="Shape 181"/>
          <p:cNvSpPr/>
          <p:nvPr/>
        </p:nvSpPr>
        <p:spPr>
          <a:xfrm>
            <a:off x="8334375" y="3352800"/>
            <a:ext cx="1047750" cy="2476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9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评分</a:t>
            </a:r>
            <a:endParaRPr lang="zh-CN"/>
          </a:p>
        </p:txBody>
      </p:sp>
      <p:sp>
        <p:nvSpPr>
          <p:cNvPr id="191" name="Shape 191"/>
          <p:cNvSpPr/>
          <p:nvPr/>
        </p:nvSpPr>
        <p:spPr>
          <a:xfrm>
            <a:off x="9525000" y="3400425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alt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ISE</a:t>
            </a:r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输出发音得分与维度</a:t>
            </a:r>
            <a:endParaRPr lang="zh-CN"/>
          </a:p>
        </p:txBody>
      </p:sp>
      <p:sp>
        <p:nvSpPr>
          <p:cNvPr id="172" name="Shape 172"/>
          <p:cNvSpPr/>
          <p:nvPr/>
        </p:nvSpPr>
        <p:spPr>
          <a:xfrm>
            <a:off x="8096250" y="3924300"/>
            <a:ext cx="3238500" cy="4953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</p:sp>
      <p:sp>
        <p:nvSpPr>
          <p:cNvPr id="182" name="Shape 182"/>
          <p:cNvSpPr/>
          <p:nvPr/>
        </p:nvSpPr>
        <p:spPr>
          <a:xfrm>
            <a:off x="8334375" y="4019550"/>
            <a:ext cx="1294130" cy="2476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9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口型示范</a:t>
            </a:r>
            <a:endParaRPr lang="zh-CN"/>
          </a:p>
        </p:txBody>
      </p:sp>
      <p:sp>
        <p:nvSpPr>
          <p:cNvPr id="192" name="Shape 192"/>
          <p:cNvSpPr/>
          <p:nvPr/>
        </p:nvSpPr>
        <p:spPr>
          <a:xfrm>
            <a:off x="9525000" y="3981450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用数字人动作告诉孩子怎么改</a:t>
            </a:r>
            <a:endParaRPr lang="zh-CN"/>
          </a:p>
        </p:txBody>
      </p:sp>
      <p:sp>
        <p:nvSpPr>
          <p:cNvPr id="173" name="Shape 173"/>
          <p:cNvSpPr/>
          <p:nvPr/>
        </p:nvSpPr>
        <p:spPr>
          <a:xfrm>
            <a:off x="8096250" y="4591050"/>
            <a:ext cx="3238500" cy="4953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</p:sp>
      <p:sp>
        <p:nvSpPr>
          <p:cNvPr id="183" name="Shape 183"/>
          <p:cNvSpPr/>
          <p:nvPr/>
        </p:nvSpPr>
        <p:spPr>
          <a:xfrm>
            <a:off x="8334375" y="4686300"/>
            <a:ext cx="1293495" cy="2476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9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训练计划</a:t>
            </a:r>
            <a:endParaRPr lang="zh-CN"/>
          </a:p>
        </p:txBody>
      </p:sp>
      <p:sp>
        <p:nvSpPr>
          <p:cNvPr id="193" name="Shape 193"/>
          <p:cNvSpPr/>
          <p:nvPr/>
        </p:nvSpPr>
        <p:spPr>
          <a:xfrm>
            <a:off x="9525000" y="4733925"/>
            <a:ext cx="1619250" cy="209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按薄弱点生成练习</a:t>
            </a:r>
            <a:endParaRPr lang="zh-CN"/>
          </a:p>
        </p:txBody>
      </p:sp>
      <p:sp>
        <p:nvSpPr>
          <p:cNvPr id="230" name="Shape 230"/>
          <p:cNvSpPr/>
          <p:nvPr/>
        </p:nvSpPr>
        <p:spPr>
          <a:xfrm>
            <a:off x="1143000" y="5924550"/>
            <a:ext cx="9906000" cy="40005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txBody>
          <a:bodyPr/>
          <a:lstStyle/>
          <a:p>
            <a:pPr algn="ctr"/>
            <a:r>
              <a:rPr lang="zh-CN" sz="20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核心变化：不仅告诉孩子“错了”，还要让孩子看到“怎么改”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4" name="Shape 904"/>
          <p:cNvSpPr/>
          <p:nvPr/>
        </p:nvSpPr>
        <p:spPr>
          <a:xfrm>
            <a:off x="304800" y="228600"/>
            <a:ext cx="640080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zh-CN"/>
          </a:p>
        </p:txBody>
      </p:sp>
      <p:sp>
        <p:nvSpPr>
          <p:cNvPr id="934" name="Shape 934"/>
          <p:cNvSpPr/>
          <p:nvPr/>
        </p:nvSpPr>
        <p:spPr>
          <a:xfrm>
            <a:off x="876300" y="257175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11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面向儿童英语发音的数字人口型与舌位可视化纠错系统</a:t>
            </a:r>
            <a:endParaRPr lang="zh-CN" b="0"/>
          </a:p>
        </p:txBody>
      </p:sp>
      <p:sp>
        <p:nvSpPr>
          <p:cNvPr id="100" name="Shape 100"/>
          <p:cNvSpPr/>
          <p:nvPr/>
        </p:nvSpPr>
        <p:spPr>
          <a:xfrm>
            <a:off x="685800" y="781050"/>
            <a:ext cx="7810500" cy="590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3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产品整体方案</a:t>
            </a:r>
            <a:endParaRPr lang="zh-CN"/>
          </a:p>
        </p:txBody>
      </p:sp>
      <p:sp>
        <p:nvSpPr>
          <p:cNvPr id="101" name="Shape 101"/>
          <p:cNvSpPr/>
          <p:nvPr/>
        </p:nvSpPr>
        <p:spPr>
          <a:xfrm>
            <a:off x="704850" y="13906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围绕一次发音练习，形成测评、分析、示范、再练习的闭环</a:t>
            </a:r>
            <a:endParaRPr lang="zh-CN"/>
          </a:p>
        </p:txBody>
      </p:sp>
      <p:sp>
        <p:nvSpPr>
          <p:cNvPr id="120" name="Shape 120"/>
          <p:cNvSpPr/>
          <p:nvPr/>
        </p:nvSpPr>
        <p:spPr>
          <a:xfrm>
            <a:off x="685800" y="2743200"/>
            <a:ext cx="1466850" cy="12573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0" name="Image 150"/>
          <p:cNvPicPr/>
          <p:nvPr/>
        </p:nvPicPr>
        <p:blipFill>
          <a:blip r:embed="rId1"/>
          <a:stretch>
            <a:fillRect/>
          </a:stretch>
        </p:blipFill>
        <p:spPr>
          <a:xfrm>
            <a:off x="1133475" y="2905125"/>
            <a:ext cx="571500" cy="571500"/>
          </a:xfrm>
          <a:prstGeom prst="rect">
            <a:avLst/>
          </a:prstGeom>
        </p:spPr>
      </p:pic>
      <p:sp>
        <p:nvSpPr>
          <p:cNvPr id="180" name="Shape 180"/>
          <p:cNvSpPr/>
          <p:nvPr/>
        </p:nvSpPr>
        <p:spPr>
          <a:xfrm>
            <a:off x="857250" y="3524250"/>
            <a:ext cx="1123950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儿童录音</a:t>
            </a:r>
            <a:endParaRPr lang="zh-CN"/>
          </a:p>
        </p:txBody>
      </p:sp>
      <p:sp>
        <p:nvSpPr>
          <p:cNvPr id="200" name="Shape 200"/>
          <p:cNvSpPr/>
          <p:nvPr/>
        </p:nvSpPr>
        <p:spPr>
          <a:xfrm>
            <a:off x="876300" y="3790950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读单词/短句</a:t>
            </a:r>
            <a:endParaRPr lang="zh-CN"/>
          </a:p>
        </p:txBody>
      </p:sp>
      <p:cxnSp>
        <p:nvCxnSpPr>
          <p:cNvPr id="230" name="Arrow 230"/>
          <p:cNvCxnSpPr/>
          <p:nvPr/>
        </p:nvCxnSpPr>
        <p:spPr>
          <a:xfrm>
            <a:off x="2209800" y="3371850"/>
            <a:ext cx="266700" cy="9525"/>
          </a:xfrm>
          <a:prstGeom prst="line">
            <a:avLst/>
          </a:prstGeom>
          <a:ln w="38100">
            <a:solidFill>
              <a:srgbClr val="2563EB"/>
            </a:solidFill>
            <a:tailEnd type="triangle"/>
          </a:ln>
        </p:spPr>
      </p:cxnSp>
      <p:sp>
        <p:nvSpPr>
          <p:cNvPr id="121" name="Shape 121"/>
          <p:cNvSpPr/>
          <p:nvPr/>
        </p:nvSpPr>
        <p:spPr>
          <a:xfrm>
            <a:off x="2552700" y="2743200"/>
            <a:ext cx="1466850" cy="12573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1" name="Image 151"/>
          <p:cNvPicPr/>
          <p:nvPr/>
        </p:nvPicPr>
        <p:blipFill>
          <a:blip r:embed="rId2"/>
          <a:stretch>
            <a:fillRect/>
          </a:stretch>
        </p:blipFill>
        <p:spPr>
          <a:xfrm>
            <a:off x="3000375" y="2905125"/>
            <a:ext cx="571500" cy="571500"/>
          </a:xfrm>
          <a:prstGeom prst="rect">
            <a:avLst/>
          </a:prstGeom>
        </p:spPr>
      </p:pic>
      <p:sp>
        <p:nvSpPr>
          <p:cNvPr id="181" name="Shape 181"/>
          <p:cNvSpPr/>
          <p:nvPr/>
        </p:nvSpPr>
        <p:spPr>
          <a:xfrm>
            <a:off x="2724150" y="3524250"/>
            <a:ext cx="1123950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发音评分</a:t>
            </a:r>
            <a:endParaRPr lang="zh-CN"/>
          </a:p>
        </p:txBody>
      </p:sp>
      <p:sp>
        <p:nvSpPr>
          <p:cNvPr id="201" name="Shape 201"/>
          <p:cNvSpPr/>
          <p:nvPr/>
        </p:nvSpPr>
        <p:spPr>
          <a:xfrm>
            <a:off x="2743200" y="3790950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多维度反馈</a:t>
            </a:r>
            <a:endParaRPr lang="zh-CN"/>
          </a:p>
        </p:txBody>
      </p:sp>
      <p:cxnSp>
        <p:nvCxnSpPr>
          <p:cNvPr id="231" name="Arrow 231"/>
          <p:cNvCxnSpPr/>
          <p:nvPr/>
        </p:nvCxnSpPr>
        <p:spPr>
          <a:xfrm>
            <a:off x="4076700" y="3371850"/>
            <a:ext cx="266700" cy="9525"/>
          </a:xfrm>
          <a:prstGeom prst="line">
            <a:avLst/>
          </a:prstGeom>
          <a:ln w="38100">
            <a:solidFill>
              <a:srgbClr val="2563EB"/>
            </a:solidFill>
            <a:tailEnd type="triangle"/>
          </a:ln>
        </p:spPr>
      </p:cxnSp>
      <p:sp>
        <p:nvSpPr>
          <p:cNvPr id="122" name="Shape 122"/>
          <p:cNvSpPr/>
          <p:nvPr/>
        </p:nvSpPr>
        <p:spPr>
          <a:xfrm>
            <a:off x="4419600" y="2743200"/>
            <a:ext cx="1466850" cy="12573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2" name="Image 152"/>
          <p:cNvPicPr/>
          <p:nvPr/>
        </p:nvPicPr>
        <p:blipFill>
          <a:blip r:embed="rId3"/>
          <a:stretch>
            <a:fillRect/>
          </a:stretch>
        </p:blipFill>
        <p:spPr>
          <a:xfrm>
            <a:off x="4867275" y="2905125"/>
            <a:ext cx="571500" cy="571500"/>
          </a:xfrm>
          <a:prstGeom prst="rect">
            <a:avLst/>
          </a:prstGeom>
        </p:spPr>
      </p:pic>
      <p:sp>
        <p:nvSpPr>
          <p:cNvPr id="182" name="Shape 182"/>
          <p:cNvSpPr/>
          <p:nvPr/>
        </p:nvSpPr>
        <p:spPr>
          <a:xfrm>
            <a:off x="4591050" y="3524250"/>
            <a:ext cx="1123950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错误识别</a:t>
            </a:r>
            <a:endParaRPr lang="zh-CN"/>
          </a:p>
        </p:txBody>
      </p:sp>
      <p:sp>
        <p:nvSpPr>
          <p:cNvPr id="202" name="Shape 202"/>
          <p:cNvSpPr/>
          <p:nvPr/>
        </p:nvSpPr>
        <p:spPr>
          <a:xfrm>
            <a:off x="4610100" y="3790950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定位薄弱音</a:t>
            </a:r>
            <a:endParaRPr lang="zh-CN"/>
          </a:p>
        </p:txBody>
      </p:sp>
      <p:cxnSp>
        <p:nvCxnSpPr>
          <p:cNvPr id="232" name="Arrow 232"/>
          <p:cNvCxnSpPr/>
          <p:nvPr/>
        </p:nvCxnSpPr>
        <p:spPr>
          <a:xfrm>
            <a:off x="5943600" y="3371850"/>
            <a:ext cx="266700" cy="9525"/>
          </a:xfrm>
          <a:prstGeom prst="line">
            <a:avLst/>
          </a:prstGeom>
          <a:ln w="38100">
            <a:solidFill>
              <a:srgbClr val="2563EB"/>
            </a:solidFill>
            <a:tailEnd type="triangle"/>
          </a:ln>
        </p:spPr>
      </p:cxnSp>
      <p:sp>
        <p:nvSpPr>
          <p:cNvPr id="123" name="Shape 123"/>
          <p:cNvSpPr/>
          <p:nvPr/>
        </p:nvSpPr>
        <p:spPr>
          <a:xfrm>
            <a:off x="6286500" y="2743200"/>
            <a:ext cx="1466850" cy="12573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3" name="Image 153"/>
          <p:cNvPicPr/>
          <p:nvPr/>
        </p:nvPicPr>
        <p:blipFill>
          <a:blip r:embed="rId4"/>
          <a:stretch>
            <a:fillRect/>
          </a:stretch>
        </p:blipFill>
        <p:spPr>
          <a:xfrm>
            <a:off x="6734175" y="2905125"/>
            <a:ext cx="571500" cy="571500"/>
          </a:xfrm>
          <a:prstGeom prst="rect">
            <a:avLst/>
          </a:prstGeom>
        </p:spPr>
      </p:pic>
      <p:sp>
        <p:nvSpPr>
          <p:cNvPr id="183" name="Shape 183"/>
          <p:cNvSpPr/>
          <p:nvPr/>
        </p:nvSpPr>
        <p:spPr>
          <a:xfrm>
            <a:off x="6074410" y="3517900"/>
            <a:ext cx="1891030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口型</a:t>
            </a:r>
            <a:r>
              <a:rPr lang="en-US" alt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舌位</a:t>
            </a:r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指导</a:t>
            </a:r>
            <a:endParaRPr lang="zh-CN"/>
          </a:p>
        </p:txBody>
      </p:sp>
      <p:sp>
        <p:nvSpPr>
          <p:cNvPr id="203" name="Shape 203"/>
          <p:cNvSpPr/>
          <p:nvPr/>
        </p:nvSpPr>
        <p:spPr>
          <a:xfrm>
            <a:off x="6477000" y="3790950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数字人示范</a:t>
            </a:r>
            <a:endParaRPr lang="zh-CN"/>
          </a:p>
        </p:txBody>
      </p:sp>
      <p:cxnSp>
        <p:nvCxnSpPr>
          <p:cNvPr id="233" name="Arrow 233"/>
          <p:cNvCxnSpPr/>
          <p:nvPr/>
        </p:nvCxnSpPr>
        <p:spPr>
          <a:xfrm>
            <a:off x="7810500" y="3371850"/>
            <a:ext cx="266700" cy="9525"/>
          </a:xfrm>
          <a:prstGeom prst="line">
            <a:avLst/>
          </a:prstGeom>
          <a:ln w="38100">
            <a:solidFill>
              <a:srgbClr val="2563EB"/>
            </a:solidFill>
            <a:tailEnd type="triangle"/>
          </a:ln>
        </p:spPr>
      </p:cxnSp>
      <p:sp>
        <p:nvSpPr>
          <p:cNvPr id="124" name="Shape 124"/>
          <p:cNvSpPr/>
          <p:nvPr/>
        </p:nvSpPr>
        <p:spPr>
          <a:xfrm>
            <a:off x="8153400" y="2743200"/>
            <a:ext cx="1466850" cy="12573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4" name="Image 154"/>
          <p:cNvPicPr/>
          <p:nvPr/>
        </p:nvPicPr>
        <p:blipFill>
          <a:blip r:embed="rId5"/>
          <a:stretch>
            <a:fillRect/>
          </a:stretch>
        </p:blipFill>
        <p:spPr>
          <a:xfrm>
            <a:off x="8601075" y="2905125"/>
            <a:ext cx="571500" cy="571500"/>
          </a:xfrm>
          <a:prstGeom prst="rect">
            <a:avLst/>
          </a:prstGeom>
        </p:spPr>
      </p:pic>
      <p:sp>
        <p:nvSpPr>
          <p:cNvPr id="184" name="Shape 184"/>
          <p:cNvSpPr/>
          <p:nvPr/>
        </p:nvSpPr>
        <p:spPr>
          <a:xfrm>
            <a:off x="8154035" y="3524250"/>
            <a:ext cx="1415415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个性化训练</a:t>
            </a:r>
            <a:endParaRPr lang="zh-CN"/>
          </a:p>
        </p:txBody>
      </p:sp>
      <p:sp>
        <p:nvSpPr>
          <p:cNvPr id="204" name="Shape 204"/>
          <p:cNvSpPr/>
          <p:nvPr/>
        </p:nvSpPr>
        <p:spPr>
          <a:xfrm>
            <a:off x="8343900" y="3790950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生成练习内容</a:t>
            </a:r>
            <a:endParaRPr lang="zh-CN"/>
          </a:p>
        </p:txBody>
      </p:sp>
      <p:cxnSp>
        <p:nvCxnSpPr>
          <p:cNvPr id="234" name="Arrow 234"/>
          <p:cNvCxnSpPr/>
          <p:nvPr/>
        </p:nvCxnSpPr>
        <p:spPr>
          <a:xfrm>
            <a:off x="9677400" y="3371850"/>
            <a:ext cx="266700" cy="9525"/>
          </a:xfrm>
          <a:prstGeom prst="line">
            <a:avLst/>
          </a:prstGeom>
          <a:ln w="38100">
            <a:solidFill>
              <a:srgbClr val="2563EB"/>
            </a:solidFill>
            <a:tailEnd type="triangle"/>
          </a:ln>
        </p:spPr>
      </p:cxnSp>
      <p:sp>
        <p:nvSpPr>
          <p:cNvPr id="125" name="Shape 125"/>
          <p:cNvSpPr/>
          <p:nvPr/>
        </p:nvSpPr>
        <p:spPr>
          <a:xfrm>
            <a:off x="10020300" y="2743200"/>
            <a:ext cx="1466850" cy="12573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5" name="Image 155"/>
          <p:cNvPicPr/>
          <p:nvPr/>
        </p:nvPicPr>
        <p:blipFill>
          <a:blip r:embed="rId6"/>
          <a:stretch>
            <a:fillRect/>
          </a:stretch>
        </p:blipFill>
        <p:spPr>
          <a:xfrm>
            <a:off x="10467975" y="2905125"/>
            <a:ext cx="571500" cy="571500"/>
          </a:xfrm>
          <a:prstGeom prst="rect">
            <a:avLst/>
          </a:prstGeom>
        </p:spPr>
      </p:pic>
      <p:sp>
        <p:nvSpPr>
          <p:cNvPr id="185" name="Shape 185"/>
          <p:cNvSpPr/>
          <p:nvPr/>
        </p:nvSpPr>
        <p:spPr>
          <a:xfrm>
            <a:off x="10191750" y="3524250"/>
            <a:ext cx="1123950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能力提升</a:t>
            </a:r>
            <a:endParaRPr lang="zh-CN"/>
          </a:p>
        </p:txBody>
      </p:sp>
      <p:sp>
        <p:nvSpPr>
          <p:cNvPr id="205" name="Shape 205"/>
          <p:cNvSpPr/>
          <p:nvPr/>
        </p:nvSpPr>
        <p:spPr>
          <a:xfrm>
            <a:off x="10210800" y="3790950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记录进步</a:t>
            </a:r>
            <a:endParaRPr lang="zh-CN"/>
          </a:p>
        </p:txBody>
      </p:sp>
      <p:sp>
        <p:nvSpPr>
          <p:cNvPr id="245" name="Shape 245"/>
          <p:cNvSpPr/>
          <p:nvPr/>
        </p:nvSpPr>
        <p:spPr>
          <a:xfrm>
            <a:off x="2571750" y="4838700"/>
            <a:ext cx="7048500" cy="59055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pPr algn="ctr"/>
            <a:r>
              <a:rPr lang="zh-CN" sz="3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测评 - 分析 -可视化纠正 - 训练</a:t>
            </a:r>
            <a:endParaRPr 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5" name="Shape 905"/>
          <p:cNvSpPr/>
          <p:nvPr/>
        </p:nvSpPr>
        <p:spPr>
          <a:xfrm>
            <a:off x="304800" y="228600"/>
            <a:ext cx="621665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zh-CN"/>
          </a:p>
        </p:txBody>
      </p:sp>
      <p:sp>
        <p:nvSpPr>
          <p:cNvPr id="935" name="Shape 935"/>
          <p:cNvSpPr/>
          <p:nvPr/>
        </p:nvSpPr>
        <p:spPr>
          <a:xfrm>
            <a:off x="876300" y="257175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10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面向儿童英语发音的数字人口型与舌位可视化纠错系统</a:t>
            </a:r>
            <a:endParaRPr lang="zh-CN" sz="11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sz="110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Shape 100"/>
          <p:cNvSpPr/>
          <p:nvPr/>
        </p:nvSpPr>
        <p:spPr>
          <a:xfrm>
            <a:off x="685800" y="781050"/>
            <a:ext cx="7810500" cy="590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3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产品界面设计</a:t>
            </a:r>
            <a:endParaRPr lang="zh-CN"/>
          </a:p>
        </p:txBody>
      </p:sp>
      <p:sp>
        <p:nvSpPr>
          <p:cNvPr id="101" name="Shape 101"/>
          <p:cNvSpPr/>
          <p:nvPr/>
        </p:nvSpPr>
        <p:spPr>
          <a:xfrm>
            <a:off x="704850" y="13906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四个核心页面覆盖儿童练习的完整路径</a:t>
            </a:r>
            <a:endParaRPr lang="zh-CN"/>
          </a:p>
        </p:txBody>
      </p:sp>
      <p:sp>
        <p:nvSpPr>
          <p:cNvPr id="120" name="Shape 120"/>
          <p:cNvSpPr/>
          <p:nvPr/>
        </p:nvSpPr>
        <p:spPr>
          <a:xfrm>
            <a:off x="882650" y="1821815"/>
            <a:ext cx="2095500" cy="3714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</p:sp>
      <p:sp>
        <p:nvSpPr>
          <p:cNvPr id="121" name="Shape 121"/>
          <p:cNvSpPr/>
          <p:nvPr/>
        </p:nvSpPr>
        <p:spPr>
          <a:xfrm>
            <a:off x="1028700" y="1885950"/>
            <a:ext cx="17526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首页</a:t>
            </a:r>
            <a:endParaRPr lang="zh-CN"/>
          </a:p>
        </p:txBody>
      </p:sp>
      <p:sp>
        <p:nvSpPr>
          <p:cNvPr id="122" name="Shape 122"/>
          <p:cNvSpPr/>
          <p:nvPr/>
        </p:nvSpPr>
        <p:spPr>
          <a:xfrm>
            <a:off x="1143000" y="2381250"/>
            <a:ext cx="1524000" cy="1381125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23" name="Image 123"/>
          <p:cNvPicPr/>
          <p:nvPr/>
        </p:nvPicPr>
        <p:blipFill>
          <a:blip r:embed="rId1"/>
          <a:stretch>
            <a:fillRect/>
          </a:stretch>
        </p:blipFill>
        <p:spPr>
          <a:xfrm>
            <a:off x="1543050" y="2686050"/>
            <a:ext cx="723900" cy="723900"/>
          </a:xfrm>
          <a:prstGeom prst="rect">
            <a:avLst/>
          </a:prstGeom>
        </p:spPr>
      </p:pic>
      <p:sp>
        <p:nvSpPr>
          <p:cNvPr id="124" name="Shape 124"/>
          <p:cNvSpPr/>
          <p:nvPr/>
        </p:nvSpPr>
        <p:spPr>
          <a:xfrm>
            <a:off x="1143000" y="4057650"/>
            <a:ext cx="1524000" cy="3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今日任务</a:t>
            </a:r>
            <a:endParaRPr lang="zh-CN"/>
          </a:p>
        </p:txBody>
      </p:sp>
      <p:sp>
        <p:nvSpPr>
          <p:cNvPr id="125" name="Shape 125"/>
          <p:cNvSpPr/>
          <p:nvPr/>
        </p:nvSpPr>
        <p:spPr>
          <a:xfrm>
            <a:off x="1190625" y="4476750"/>
            <a:ext cx="1428750" cy="4000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快速进入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跟读练习</a:t>
            </a:r>
            <a:endParaRPr lang="zh-CN"/>
          </a:p>
        </p:txBody>
      </p:sp>
      <p:sp>
        <p:nvSpPr>
          <p:cNvPr id="130" name="Shape 130"/>
          <p:cNvSpPr/>
          <p:nvPr/>
        </p:nvSpPr>
        <p:spPr>
          <a:xfrm>
            <a:off x="3663315" y="1821815"/>
            <a:ext cx="2095500" cy="3714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</p:sp>
      <p:sp>
        <p:nvSpPr>
          <p:cNvPr id="131" name="Shape 131"/>
          <p:cNvSpPr/>
          <p:nvPr/>
        </p:nvSpPr>
        <p:spPr>
          <a:xfrm>
            <a:off x="3790950" y="1885950"/>
            <a:ext cx="17526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测评页</a:t>
            </a:r>
            <a:endParaRPr lang="zh-CN"/>
          </a:p>
        </p:txBody>
      </p:sp>
      <p:sp>
        <p:nvSpPr>
          <p:cNvPr id="132" name="Shape 132"/>
          <p:cNvSpPr/>
          <p:nvPr/>
        </p:nvSpPr>
        <p:spPr>
          <a:xfrm>
            <a:off x="3905250" y="2381250"/>
            <a:ext cx="1524000" cy="1381125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33" name="Image 133"/>
          <p:cNvPicPr/>
          <p:nvPr/>
        </p:nvPicPr>
        <p:blipFill>
          <a:blip r:embed="rId2"/>
          <a:stretch>
            <a:fillRect/>
          </a:stretch>
        </p:blipFill>
        <p:spPr>
          <a:xfrm>
            <a:off x="4305300" y="2686050"/>
            <a:ext cx="723900" cy="723900"/>
          </a:xfrm>
          <a:prstGeom prst="rect">
            <a:avLst/>
          </a:prstGeom>
        </p:spPr>
      </p:pic>
      <p:sp>
        <p:nvSpPr>
          <p:cNvPr id="134" name="Shape 134"/>
          <p:cNvSpPr/>
          <p:nvPr/>
        </p:nvSpPr>
        <p:spPr>
          <a:xfrm>
            <a:off x="3905250" y="4057650"/>
            <a:ext cx="1524000" cy="3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录音测评</a:t>
            </a:r>
            <a:endParaRPr lang="zh-CN"/>
          </a:p>
        </p:txBody>
      </p:sp>
      <p:sp>
        <p:nvSpPr>
          <p:cNvPr id="135" name="Shape 135"/>
          <p:cNvSpPr/>
          <p:nvPr/>
        </p:nvSpPr>
        <p:spPr>
          <a:xfrm>
            <a:off x="3952875" y="4476750"/>
            <a:ext cx="1428750" cy="4000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波形反馈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即时评分</a:t>
            </a:r>
            <a:endParaRPr lang="zh-CN"/>
          </a:p>
        </p:txBody>
      </p:sp>
      <p:sp>
        <p:nvSpPr>
          <p:cNvPr id="140" name="Shape 140"/>
          <p:cNvSpPr/>
          <p:nvPr/>
        </p:nvSpPr>
        <p:spPr>
          <a:xfrm>
            <a:off x="6425565" y="1821815"/>
            <a:ext cx="2095500" cy="3714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</p:sp>
      <p:sp>
        <p:nvSpPr>
          <p:cNvPr id="141" name="Shape 141"/>
          <p:cNvSpPr/>
          <p:nvPr/>
        </p:nvSpPr>
        <p:spPr>
          <a:xfrm>
            <a:off x="6553200" y="1885950"/>
            <a:ext cx="17526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纠音页</a:t>
            </a:r>
            <a:endParaRPr lang="zh-CN"/>
          </a:p>
        </p:txBody>
      </p:sp>
      <p:sp>
        <p:nvSpPr>
          <p:cNvPr id="142" name="Shape 142"/>
          <p:cNvSpPr/>
          <p:nvPr/>
        </p:nvSpPr>
        <p:spPr>
          <a:xfrm>
            <a:off x="6667500" y="2381250"/>
            <a:ext cx="1524000" cy="1381125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</p:sp>
      <p:pic>
        <p:nvPicPr>
          <p:cNvPr id="143" name="Image 143"/>
          <p:cNvPicPr/>
          <p:nvPr/>
        </p:nvPicPr>
        <p:blipFill>
          <a:blip r:embed="rId3"/>
          <a:stretch>
            <a:fillRect/>
          </a:stretch>
        </p:blipFill>
        <p:spPr>
          <a:xfrm>
            <a:off x="7067550" y="2686050"/>
            <a:ext cx="723900" cy="723900"/>
          </a:xfrm>
          <a:prstGeom prst="rect">
            <a:avLst/>
          </a:prstGeom>
        </p:spPr>
      </p:pic>
      <p:sp>
        <p:nvSpPr>
          <p:cNvPr id="144" name="Shape 144"/>
          <p:cNvSpPr/>
          <p:nvPr/>
        </p:nvSpPr>
        <p:spPr>
          <a:xfrm>
            <a:off x="6192520" y="3996055"/>
            <a:ext cx="2562225" cy="4667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口型与舌位示范</a:t>
            </a:r>
            <a:endParaRPr lang="zh-CN"/>
          </a:p>
        </p:txBody>
      </p:sp>
      <p:sp>
        <p:nvSpPr>
          <p:cNvPr id="145" name="Shape 145"/>
          <p:cNvSpPr/>
          <p:nvPr/>
        </p:nvSpPr>
        <p:spPr>
          <a:xfrm>
            <a:off x="6715125" y="4476750"/>
            <a:ext cx="1428750" cy="4000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数字人演示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儿童跟读</a:t>
            </a:r>
            <a:endParaRPr lang="zh-CN"/>
          </a:p>
        </p:txBody>
      </p:sp>
      <p:sp>
        <p:nvSpPr>
          <p:cNvPr id="150" name="Shape 150"/>
          <p:cNvSpPr/>
          <p:nvPr/>
        </p:nvSpPr>
        <p:spPr>
          <a:xfrm>
            <a:off x="9187815" y="1821815"/>
            <a:ext cx="2095500" cy="371475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</p:sp>
      <p:sp>
        <p:nvSpPr>
          <p:cNvPr id="151" name="Shape 151"/>
          <p:cNvSpPr/>
          <p:nvPr/>
        </p:nvSpPr>
        <p:spPr>
          <a:xfrm>
            <a:off x="9315450" y="1885950"/>
            <a:ext cx="17526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记录页</a:t>
            </a:r>
            <a:endParaRPr lang="zh-CN"/>
          </a:p>
        </p:txBody>
      </p:sp>
      <p:sp>
        <p:nvSpPr>
          <p:cNvPr id="152" name="Shape 152"/>
          <p:cNvSpPr/>
          <p:nvPr/>
        </p:nvSpPr>
        <p:spPr>
          <a:xfrm>
            <a:off x="9429750" y="2381250"/>
            <a:ext cx="1524000" cy="1381125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3" name="Image 153"/>
          <p:cNvPicPr/>
          <p:nvPr/>
        </p:nvPicPr>
        <p:blipFill>
          <a:blip r:embed="rId4"/>
          <a:stretch>
            <a:fillRect/>
          </a:stretch>
        </p:blipFill>
        <p:spPr>
          <a:xfrm>
            <a:off x="9829800" y="2686050"/>
            <a:ext cx="723900" cy="723900"/>
          </a:xfrm>
          <a:prstGeom prst="rect">
            <a:avLst/>
          </a:prstGeom>
        </p:spPr>
      </p:pic>
      <p:sp>
        <p:nvSpPr>
          <p:cNvPr id="154" name="Shape 154"/>
          <p:cNvSpPr/>
          <p:nvPr/>
        </p:nvSpPr>
        <p:spPr>
          <a:xfrm>
            <a:off x="9429750" y="4057650"/>
            <a:ext cx="1524000" cy="342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6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成长记录</a:t>
            </a:r>
            <a:endParaRPr lang="zh-CN"/>
          </a:p>
        </p:txBody>
      </p:sp>
      <p:sp>
        <p:nvSpPr>
          <p:cNvPr id="155" name="Shape 155"/>
          <p:cNvSpPr/>
          <p:nvPr/>
        </p:nvSpPr>
        <p:spPr>
          <a:xfrm>
            <a:off x="9477375" y="4476750"/>
            <a:ext cx="1428750" cy="4000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得分趋势</a:t>
            </a:r>
            <a:endParaRPr lang="zh-CN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薄弱音复盘</a:t>
            </a:r>
            <a:endParaRPr 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6" name="Shape 906"/>
          <p:cNvSpPr/>
          <p:nvPr/>
        </p:nvSpPr>
        <p:spPr>
          <a:xfrm>
            <a:off x="304800" y="228600"/>
            <a:ext cx="661670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lang="zh-CN"/>
          </a:p>
        </p:txBody>
      </p:sp>
      <p:sp>
        <p:nvSpPr>
          <p:cNvPr id="936" name="Shape 936"/>
          <p:cNvSpPr/>
          <p:nvPr/>
        </p:nvSpPr>
        <p:spPr>
          <a:xfrm>
            <a:off x="876300" y="257175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11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面向儿童英语发音的数字人口型与舌位可视化纠错系统</a:t>
            </a:r>
            <a:endParaRPr lang="zh-CN" b="0"/>
          </a:p>
        </p:txBody>
      </p:sp>
      <p:sp>
        <p:nvSpPr>
          <p:cNvPr id="100" name="Shape 100"/>
          <p:cNvSpPr/>
          <p:nvPr/>
        </p:nvSpPr>
        <p:spPr>
          <a:xfrm>
            <a:off x="685800" y="781050"/>
            <a:ext cx="7810500" cy="590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3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系统架构</a:t>
            </a:r>
            <a:endParaRPr lang="zh-CN"/>
          </a:p>
        </p:txBody>
      </p:sp>
      <p:sp>
        <p:nvSpPr>
          <p:cNvPr id="101" name="Shape 101"/>
          <p:cNvSpPr/>
          <p:nvPr/>
        </p:nvSpPr>
        <p:spPr>
          <a:xfrm>
            <a:off x="704850" y="13906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Android 负责交互，后台统一调度评分、大模型与数字人模块</a:t>
            </a:r>
            <a:endParaRPr lang="zh-CN"/>
          </a:p>
        </p:txBody>
      </p:sp>
      <p:sp>
        <p:nvSpPr>
          <p:cNvPr id="120" name="Shape 120"/>
          <p:cNvSpPr/>
          <p:nvPr/>
        </p:nvSpPr>
        <p:spPr>
          <a:xfrm>
            <a:off x="876300" y="2857500"/>
            <a:ext cx="2381250" cy="10668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pPr algn="ctr"/>
            <a:r>
              <a:rPr lang="zh-CN" sz="2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Android App</a:t>
            </a:r>
            <a:endParaRPr lang="zh-CN" sz="20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20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录音 / 展示 / 训练</a:t>
            </a:r>
            <a:endParaRPr lang="zh-CN" sz="20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4667250" y="2705100"/>
            <a:ext cx="2857500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pPr algn="ctr"/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Python Backend</a:t>
            </a:r>
            <a:endParaRPr 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接口调度 / 数据处理 / 结果整合</a:t>
            </a:r>
            <a:endParaRPr 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2" name="Arrow 122"/>
          <p:cNvCxnSpPr/>
          <p:nvPr/>
        </p:nvCxnSpPr>
        <p:spPr>
          <a:xfrm>
            <a:off x="3333750" y="3390900"/>
            <a:ext cx="1143000" cy="9525"/>
          </a:xfrm>
          <a:prstGeom prst="line">
            <a:avLst/>
          </a:prstGeom>
          <a:ln w="50800">
            <a:solidFill>
              <a:srgbClr val="2563EB"/>
            </a:solidFill>
            <a:tailEnd type="triangle"/>
          </a:ln>
        </p:spPr>
      </p:cxnSp>
      <p:sp>
        <p:nvSpPr>
          <p:cNvPr id="140" name="Shape 140"/>
          <p:cNvSpPr/>
          <p:nvPr/>
        </p:nvSpPr>
        <p:spPr>
          <a:xfrm>
            <a:off x="8382000" y="1762125"/>
            <a:ext cx="28575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</p:sp>
      <p:pic>
        <p:nvPicPr>
          <p:cNvPr id="160" name="Image 160"/>
          <p:cNvPicPr/>
          <p:nvPr/>
        </p:nvPicPr>
        <p:blipFill>
          <a:blip r:embed="rId1"/>
          <a:stretch>
            <a:fillRect/>
          </a:stretch>
        </p:blipFill>
        <p:spPr>
          <a:xfrm>
            <a:off x="8705850" y="1962150"/>
            <a:ext cx="514350" cy="514350"/>
          </a:xfrm>
          <a:prstGeom prst="rect">
            <a:avLst/>
          </a:prstGeom>
        </p:spPr>
      </p:pic>
      <p:sp>
        <p:nvSpPr>
          <p:cNvPr id="180" name="Shape 180"/>
          <p:cNvSpPr/>
          <p:nvPr/>
        </p:nvSpPr>
        <p:spPr>
          <a:xfrm>
            <a:off x="9382125" y="1933575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ISE 发音评分</a:t>
            </a:r>
            <a:endParaRPr lang="zh-CN"/>
          </a:p>
        </p:txBody>
      </p:sp>
      <p:sp>
        <p:nvSpPr>
          <p:cNvPr id="190" name="Shape 190"/>
          <p:cNvSpPr/>
          <p:nvPr/>
        </p:nvSpPr>
        <p:spPr>
          <a:xfrm>
            <a:off x="9382125" y="2238375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评分结果 / 音素维度</a:t>
            </a:r>
            <a:endParaRPr lang="zh-CN"/>
          </a:p>
        </p:txBody>
      </p:sp>
      <p:cxnSp>
        <p:nvCxnSpPr>
          <p:cNvPr id="210" name="Arrow 210"/>
          <p:cNvCxnSpPr/>
          <p:nvPr/>
        </p:nvCxnSpPr>
        <p:spPr>
          <a:xfrm flipV="1">
            <a:off x="7620000" y="2219325"/>
            <a:ext cx="714375" cy="1171575"/>
          </a:xfrm>
          <a:prstGeom prst="line">
            <a:avLst/>
          </a:prstGeom>
          <a:ln w="38100">
            <a:solidFill>
              <a:srgbClr val="2563EB"/>
            </a:solidFill>
            <a:tailEnd type="triangle"/>
          </a:ln>
        </p:spPr>
      </p:cxnSp>
      <p:sp>
        <p:nvSpPr>
          <p:cNvPr id="141" name="Shape 141"/>
          <p:cNvSpPr/>
          <p:nvPr/>
        </p:nvSpPr>
        <p:spPr>
          <a:xfrm>
            <a:off x="8382000" y="4343400"/>
            <a:ext cx="28575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</p:sp>
      <p:pic>
        <p:nvPicPr>
          <p:cNvPr id="161" name="Image 161"/>
          <p:cNvPicPr/>
          <p:nvPr/>
        </p:nvPicPr>
        <p:blipFill>
          <a:blip r:embed="rId2"/>
          <a:stretch>
            <a:fillRect/>
          </a:stretch>
        </p:blipFill>
        <p:spPr>
          <a:xfrm>
            <a:off x="8705850" y="4533900"/>
            <a:ext cx="514350" cy="514350"/>
          </a:xfrm>
          <a:prstGeom prst="rect">
            <a:avLst/>
          </a:prstGeom>
        </p:spPr>
      </p:pic>
      <p:sp>
        <p:nvSpPr>
          <p:cNvPr id="181" name="Shape 181"/>
          <p:cNvSpPr/>
          <p:nvPr/>
        </p:nvSpPr>
        <p:spPr>
          <a:xfrm>
            <a:off x="9382125" y="4505325"/>
            <a:ext cx="1676400" cy="266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多模态大模型</a:t>
            </a:r>
            <a:endParaRPr lang="zh-CN"/>
          </a:p>
        </p:txBody>
      </p:sp>
      <p:sp>
        <p:nvSpPr>
          <p:cNvPr id="191" name="Shape 191"/>
          <p:cNvSpPr/>
          <p:nvPr/>
        </p:nvSpPr>
        <p:spPr>
          <a:xfrm>
            <a:off x="9382125" y="4810125"/>
            <a:ext cx="16764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训练推荐</a:t>
            </a:r>
            <a:r>
              <a:rPr lang="en-US" alt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个性计划</a:t>
            </a:r>
            <a:endParaRPr lang="zh-CN" altLang="en-US" sz="12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1" name="Arrow 211"/>
          <p:cNvCxnSpPr/>
          <p:nvPr/>
        </p:nvCxnSpPr>
        <p:spPr>
          <a:xfrm>
            <a:off x="7620000" y="3390900"/>
            <a:ext cx="714375" cy="85725"/>
          </a:xfrm>
          <a:prstGeom prst="line">
            <a:avLst/>
          </a:prstGeom>
          <a:ln w="38100">
            <a:solidFill>
              <a:srgbClr val="2563EB"/>
            </a:solidFill>
            <a:tailEnd type="triangle"/>
          </a:ln>
        </p:spPr>
      </p:cxnSp>
      <p:cxnSp>
        <p:nvCxnSpPr>
          <p:cNvPr id="212" name="Arrow 212"/>
          <p:cNvCxnSpPr/>
          <p:nvPr/>
        </p:nvCxnSpPr>
        <p:spPr>
          <a:xfrm>
            <a:off x="7620000" y="3390900"/>
            <a:ext cx="714375" cy="1343025"/>
          </a:xfrm>
          <a:prstGeom prst="line">
            <a:avLst/>
          </a:prstGeom>
          <a:ln w="38100">
            <a:solidFill>
              <a:srgbClr val="2563EB"/>
            </a:solidFill>
            <a:tailEnd type="triangle"/>
          </a:ln>
        </p:spPr>
      </p:cxnSp>
      <p:cxnSp>
        <p:nvCxnSpPr>
          <p:cNvPr id="230" name="Arrow 230"/>
          <p:cNvCxnSpPr/>
          <p:nvPr/>
        </p:nvCxnSpPr>
        <p:spPr>
          <a:xfrm flipH="1">
            <a:off x="3476625" y="4076700"/>
            <a:ext cx="4048125" cy="80010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</p:cxnSp>
      <p:sp>
        <p:nvSpPr>
          <p:cNvPr id="231" name="Shape 231"/>
          <p:cNvSpPr/>
          <p:nvPr/>
        </p:nvSpPr>
        <p:spPr>
          <a:xfrm>
            <a:off x="1181100" y="4762500"/>
            <a:ext cx="2190750" cy="51435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</a:rPr>
              <a:t>训练反馈回到 App</a:t>
            </a:r>
            <a:endParaRPr lang="zh-CN"/>
          </a:p>
        </p:txBody>
      </p:sp>
      <p:sp>
        <p:nvSpPr>
          <p:cNvPr id="240" name="Shape 240"/>
          <p:cNvSpPr/>
          <p:nvPr/>
        </p:nvSpPr>
        <p:spPr>
          <a:xfrm>
            <a:off x="2952750" y="5638800"/>
            <a:ext cx="6762750" cy="4191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pPr algn="ctr"/>
            <a:r>
              <a:rPr lang="zh-CN"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正确流程：前端采集 - 后台调度 - 模块分析 - 反馈训练</a:t>
            </a:r>
            <a:endParaRPr lang="zh-CN"/>
          </a:p>
        </p:txBody>
      </p:sp>
      <p:sp>
        <p:nvSpPr>
          <p:cNvPr id="3" name="Shape 142"/>
          <p:cNvSpPr/>
          <p:nvPr/>
        </p:nvSpPr>
        <p:spPr>
          <a:xfrm>
            <a:off x="8401050" y="3048000"/>
            <a:ext cx="28575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BEAFE"/>
            </a:solidFill>
          </a:ln>
        </p:spPr>
      </p:sp>
      <p:pic>
        <p:nvPicPr>
          <p:cNvPr id="4" name="Image 162"/>
          <p:cNvPicPr/>
          <p:nvPr/>
        </p:nvPicPr>
        <p:blipFill>
          <a:blip r:embed="rId3"/>
          <a:stretch>
            <a:fillRect/>
          </a:stretch>
        </p:blipFill>
        <p:spPr>
          <a:xfrm>
            <a:off x="8724900" y="3248025"/>
            <a:ext cx="514350" cy="514350"/>
          </a:xfrm>
          <a:prstGeom prst="rect">
            <a:avLst/>
          </a:prstGeom>
        </p:spPr>
      </p:pic>
      <p:sp>
        <p:nvSpPr>
          <p:cNvPr id="5" name="Shape 182"/>
          <p:cNvSpPr/>
          <p:nvPr/>
        </p:nvSpPr>
        <p:spPr>
          <a:xfrm>
            <a:off x="9401175" y="3219450"/>
            <a:ext cx="1922780" cy="2667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/>
            <a:r>
              <a:rPr lang="zh-CN" sz="17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数字人口型指导</a:t>
            </a:r>
            <a:endParaRPr lang="zh-CN"/>
          </a:p>
        </p:txBody>
      </p:sp>
      <p:sp>
        <p:nvSpPr>
          <p:cNvPr id="6" name="Shape 192"/>
          <p:cNvSpPr/>
          <p:nvPr/>
        </p:nvSpPr>
        <p:spPr>
          <a:xfrm>
            <a:off x="9401175" y="3524250"/>
            <a:ext cx="1923415" cy="228600"/>
          </a:xfrm>
          <a:prstGeom prst="rect">
            <a:avLst/>
          </a:prstGeom>
          <a:noFill/>
          <a:ln>
            <a:noFill/>
          </a:ln>
        </p:spPr>
        <p:txBody>
          <a:bodyPr/>
          <a:p>
            <a:pPr algn="l"/>
            <a:r>
              <a:rPr lang="zh-CN" sz="12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嘴唇形态 / 开口程度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7" name="Shape 907"/>
          <p:cNvSpPr/>
          <p:nvPr/>
        </p:nvSpPr>
        <p:spPr>
          <a:xfrm>
            <a:off x="304800" y="228600"/>
            <a:ext cx="618490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lang="zh-CN"/>
          </a:p>
        </p:txBody>
      </p:sp>
      <p:sp>
        <p:nvSpPr>
          <p:cNvPr id="937" name="Shape 937"/>
          <p:cNvSpPr/>
          <p:nvPr/>
        </p:nvSpPr>
        <p:spPr>
          <a:xfrm>
            <a:off x="876300" y="257175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11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面向儿童英语发音的数字人口型与舌位可视化纠错系统</a:t>
            </a:r>
            <a:endParaRPr lang="zh-CN" b="0"/>
          </a:p>
        </p:txBody>
      </p:sp>
      <p:sp>
        <p:nvSpPr>
          <p:cNvPr id="100" name="Shape 100"/>
          <p:cNvSpPr/>
          <p:nvPr/>
        </p:nvSpPr>
        <p:spPr>
          <a:xfrm>
            <a:off x="685800" y="781050"/>
            <a:ext cx="7810500" cy="590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3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核心创新</a:t>
            </a:r>
            <a:endParaRPr lang="zh-CN"/>
          </a:p>
        </p:txBody>
      </p:sp>
      <p:sp>
        <p:nvSpPr>
          <p:cNvPr id="101" name="Shape 101"/>
          <p:cNvSpPr/>
          <p:nvPr/>
        </p:nvSpPr>
        <p:spPr>
          <a:xfrm>
            <a:off x="704850" y="13906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不是简单拼接评分和对话，而是围绕儿童纠音设计干预路径</a:t>
            </a:r>
            <a:endParaRPr lang="zh-CN"/>
          </a:p>
        </p:txBody>
      </p:sp>
      <p:sp>
        <p:nvSpPr>
          <p:cNvPr id="120" name="Shape 120"/>
          <p:cNvSpPr/>
          <p:nvPr/>
        </p:nvSpPr>
        <p:spPr>
          <a:xfrm>
            <a:off x="1142365" y="2143125"/>
            <a:ext cx="2857500" cy="238125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0" name="Image 150"/>
          <p:cNvPicPr/>
          <p:nvPr/>
        </p:nvPicPr>
        <p:blipFill>
          <a:blip r:embed="rId1"/>
          <a:stretch>
            <a:fillRect/>
          </a:stretch>
        </p:blipFill>
        <p:spPr>
          <a:xfrm>
            <a:off x="2141855" y="2459355"/>
            <a:ext cx="857250" cy="857250"/>
          </a:xfrm>
          <a:prstGeom prst="rect">
            <a:avLst/>
          </a:prstGeom>
        </p:spPr>
      </p:pic>
      <p:sp>
        <p:nvSpPr>
          <p:cNvPr id="170" name="Shape 170"/>
          <p:cNvSpPr/>
          <p:nvPr/>
        </p:nvSpPr>
        <p:spPr>
          <a:xfrm>
            <a:off x="1378585" y="3482340"/>
            <a:ext cx="2384425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音素级发音诊断</a:t>
            </a:r>
            <a:endParaRPr 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0" name="Shape 190"/>
          <p:cNvSpPr/>
          <p:nvPr/>
        </p:nvSpPr>
        <p:spPr>
          <a:xfrm>
            <a:off x="1543050" y="3952875"/>
            <a:ext cx="20574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5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精准定位错误音素，明确发音问题来源。</a:t>
            </a:r>
            <a:endParaRPr lang="zh-CN" sz="15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Shape 121"/>
          <p:cNvSpPr/>
          <p:nvPr/>
        </p:nvSpPr>
        <p:spPr>
          <a:xfrm>
            <a:off x="4572000" y="2143125"/>
            <a:ext cx="2857500" cy="238125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</p:sp>
      <p:pic>
        <p:nvPicPr>
          <p:cNvPr id="151" name="Image 151"/>
          <p:cNvPicPr/>
          <p:nvPr/>
        </p:nvPicPr>
        <p:blipFill>
          <a:blip r:embed="rId2"/>
          <a:stretch>
            <a:fillRect/>
          </a:stretch>
        </p:blipFill>
        <p:spPr>
          <a:xfrm>
            <a:off x="5572125" y="2428875"/>
            <a:ext cx="857250" cy="857250"/>
          </a:xfrm>
          <a:prstGeom prst="rect">
            <a:avLst/>
          </a:prstGeom>
        </p:spPr>
      </p:pic>
      <p:sp>
        <p:nvSpPr>
          <p:cNvPr id="171" name="Shape 171"/>
          <p:cNvSpPr/>
          <p:nvPr/>
        </p:nvSpPr>
        <p:spPr>
          <a:xfrm>
            <a:off x="4285615" y="3476625"/>
            <a:ext cx="3429635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数字人口型</a:t>
            </a:r>
            <a:r>
              <a:rPr lang="en-US" alt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舌位</a:t>
            </a:r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指导</a:t>
            </a:r>
            <a:endParaRPr 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1" name="Shape 191"/>
          <p:cNvSpPr/>
          <p:nvPr/>
        </p:nvSpPr>
        <p:spPr>
          <a:xfrm>
            <a:off x="4972050" y="3952875"/>
            <a:ext cx="20574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5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展示嘴唇形态、开口程度和发音动作</a:t>
            </a:r>
            <a:endParaRPr lang="zh-CN"/>
          </a:p>
        </p:txBody>
      </p:sp>
      <p:sp>
        <p:nvSpPr>
          <p:cNvPr id="122" name="Shape 122"/>
          <p:cNvSpPr/>
          <p:nvPr/>
        </p:nvSpPr>
        <p:spPr>
          <a:xfrm>
            <a:off x="8001000" y="2143125"/>
            <a:ext cx="2857500" cy="238125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2" name="Image 152"/>
          <p:cNvPicPr/>
          <p:nvPr/>
        </p:nvPicPr>
        <p:blipFill>
          <a:blip r:embed="rId3"/>
          <a:stretch>
            <a:fillRect/>
          </a:stretch>
        </p:blipFill>
        <p:spPr>
          <a:xfrm>
            <a:off x="9001125" y="2428875"/>
            <a:ext cx="857250" cy="857250"/>
          </a:xfrm>
          <a:prstGeom prst="rect">
            <a:avLst/>
          </a:prstGeom>
        </p:spPr>
      </p:pic>
      <p:sp>
        <p:nvSpPr>
          <p:cNvPr id="172" name="Shape 172"/>
          <p:cNvSpPr/>
          <p:nvPr/>
        </p:nvSpPr>
        <p:spPr>
          <a:xfrm>
            <a:off x="7920990" y="3467100"/>
            <a:ext cx="3018155" cy="30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20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大模型个性化训练生成</a:t>
            </a:r>
            <a:endParaRPr lang="zh-CN" sz="20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Shape 192"/>
          <p:cNvSpPr/>
          <p:nvPr/>
        </p:nvSpPr>
        <p:spPr>
          <a:xfrm>
            <a:off x="8401050" y="3952875"/>
            <a:ext cx="2057400" cy="4762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zh-CN" sz="15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大模型根据历史记录自动调整练习内容</a:t>
            </a:r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8" name="Shape 908"/>
          <p:cNvSpPr/>
          <p:nvPr/>
        </p:nvSpPr>
        <p:spPr>
          <a:xfrm>
            <a:off x="304800" y="228600"/>
            <a:ext cx="676910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lang="zh-CN"/>
          </a:p>
        </p:txBody>
      </p:sp>
      <p:sp>
        <p:nvSpPr>
          <p:cNvPr id="938" name="Shape 938"/>
          <p:cNvSpPr/>
          <p:nvPr/>
        </p:nvSpPr>
        <p:spPr>
          <a:xfrm>
            <a:off x="876300" y="257175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>
              <a:def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11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面向儿童英语发音的数字人口型与舌位可视化纠错系统</a:t>
            </a:r>
            <a:endParaRPr lang="zh-CN" b="0"/>
          </a:p>
        </p:txBody>
      </p:sp>
      <p:sp>
        <p:nvSpPr>
          <p:cNvPr id="100" name="Shape 100"/>
          <p:cNvSpPr/>
          <p:nvPr/>
        </p:nvSpPr>
        <p:spPr>
          <a:xfrm>
            <a:off x="685800" y="781050"/>
            <a:ext cx="7810500" cy="5905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38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为什么我们能做出来</a:t>
            </a:r>
            <a:endParaRPr lang="zh-CN"/>
          </a:p>
        </p:txBody>
      </p:sp>
      <p:sp>
        <p:nvSpPr>
          <p:cNvPr id="101" name="Shape 101"/>
          <p:cNvSpPr/>
          <p:nvPr/>
        </p:nvSpPr>
        <p:spPr>
          <a:xfrm>
            <a:off x="704850" y="1390650"/>
            <a:ext cx="8572500" cy="3238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8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关键模块都有成熟接口或开源基础，项目重点在系统集成与场景适配</a:t>
            </a:r>
            <a:endParaRPr lang="zh-CN"/>
          </a:p>
        </p:txBody>
      </p:sp>
      <p:sp>
        <p:nvSpPr>
          <p:cNvPr id="120" name="Shape 120"/>
          <p:cNvSpPr/>
          <p:nvPr/>
        </p:nvSpPr>
        <p:spPr>
          <a:xfrm>
            <a:off x="1428750" y="1952625"/>
            <a:ext cx="4000500" cy="1381125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0" name="Image 150"/>
          <p:cNvPicPr/>
          <p:nvPr/>
        </p:nvPicPr>
        <p:blipFill>
          <a:blip r:embed="rId1"/>
          <a:stretch>
            <a:fillRect/>
          </a:stretch>
        </p:blipFill>
        <p:spPr>
          <a:xfrm>
            <a:off x="1695450" y="2276475"/>
            <a:ext cx="704850" cy="704850"/>
          </a:xfrm>
          <a:prstGeom prst="rect">
            <a:avLst/>
          </a:prstGeom>
        </p:spPr>
      </p:pic>
      <p:sp>
        <p:nvSpPr>
          <p:cNvPr id="170" name="Shape 170"/>
          <p:cNvSpPr/>
          <p:nvPr/>
        </p:nvSpPr>
        <p:spPr>
          <a:xfrm>
            <a:off x="2647950" y="227647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Android 开发</a:t>
            </a:r>
            <a:endParaRPr lang="zh-CN"/>
          </a:p>
        </p:txBody>
      </p:sp>
      <p:sp>
        <p:nvSpPr>
          <p:cNvPr id="190" name="Shape 190"/>
          <p:cNvSpPr/>
          <p:nvPr/>
        </p:nvSpPr>
        <p:spPr>
          <a:xfrm>
            <a:off x="2647950" y="2667000"/>
            <a:ext cx="2286000" cy="361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5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原生录音、页面交互、数据展示可控</a:t>
            </a:r>
            <a:endParaRPr lang="zh-CN"/>
          </a:p>
        </p:txBody>
      </p:sp>
      <p:sp>
        <p:nvSpPr>
          <p:cNvPr id="121" name="Shape 121"/>
          <p:cNvSpPr/>
          <p:nvPr/>
        </p:nvSpPr>
        <p:spPr>
          <a:xfrm>
            <a:off x="6191250" y="1952625"/>
            <a:ext cx="4000500" cy="1381125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1" name="Image 151"/>
          <p:cNvPicPr/>
          <p:nvPr/>
        </p:nvPicPr>
        <p:blipFill>
          <a:blip r:embed="rId2"/>
          <a:stretch>
            <a:fillRect/>
          </a:stretch>
        </p:blipFill>
        <p:spPr>
          <a:xfrm>
            <a:off x="6457950" y="2276475"/>
            <a:ext cx="704850" cy="704850"/>
          </a:xfrm>
          <a:prstGeom prst="rect">
            <a:avLst/>
          </a:prstGeom>
        </p:spPr>
      </p:pic>
      <p:sp>
        <p:nvSpPr>
          <p:cNvPr id="171" name="Shape 171"/>
          <p:cNvSpPr/>
          <p:nvPr/>
        </p:nvSpPr>
        <p:spPr>
          <a:xfrm>
            <a:off x="7410450" y="227647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讯飞 ISE</a:t>
            </a:r>
            <a:endParaRPr lang="zh-CN"/>
          </a:p>
        </p:txBody>
      </p:sp>
      <p:sp>
        <p:nvSpPr>
          <p:cNvPr id="191" name="Shape 191"/>
          <p:cNvSpPr/>
          <p:nvPr/>
        </p:nvSpPr>
        <p:spPr>
          <a:xfrm>
            <a:off x="7410450" y="2667000"/>
            <a:ext cx="2286000" cy="361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5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已有发音评分接口支撑核心测评</a:t>
            </a:r>
            <a:endParaRPr lang="zh-CN"/>
          </a:p>
        </p:txBody>
      </p:sp>
      <p:sp>
        <p:nvSpPr>
          <p:cNvPr id="122" name="Shape 122"/>
          <p:cNvSpPr/>
          <p:nvPr/>
        </p:nvSpPr>
        <p:spPr>
          <a:xfrm>
            <a:off x="1428750" y="3762375"/>
            <a:ext cx="4000500" cy="1381125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2" name="Image 152"/>
          <p:cNvPicPr/>
          <p:nvPr/>
        </p:nvPicPr>
        <p:blipFill>
          <a:blip r:embed="rId3"/>
          <a:stretch>
            <a:fillRect/>
          </a:stretch>
        </p:blipFill>
        <p:spPr>
          <a:xfrm>
            <a:off x="1695450" y="4086225"/>
            <a:ext cx="704850" cy="704850"/>
          </a:xfrm>
          <a:prstGeom prst="rect">
            <a:avLst/>
          </a:prstGeom>
        </p:spPr>
      </p:pic>
      <p:sp>
        <p:nvSpPr>
          <p:cNvPr id="172" name="Shape 172"/>
          <p:cNvSpPr/>
          <p:nvPr/>
        </p:nvSpPr>
        <p:spPr>
          <a:xfrm>
            <a:off x="2647950" y="408622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大模型 API</a:t>
            </a:r>
            <a:endParaRPr lang="zh-CN"/>
          </a:p>
        </p:txBody>
      </p:sp>
      <p:sp>
        <p:nvSpPr>
          <p:cNvPr id="192" name="Shape 192"/>
          <p:cNvSpPr/>
          <p:nvPr/>
        </p:nvSpPr>
        <p:spPr>
          <a:xfrm>
            <a:off x="2647950" y="4476750"/>
            <a:ext cx="2286000" cy="361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5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用于生成训练建议，设计训练计划</a:t>
            </a:r>
            <a:endParaRPr lang="zh-CN"/>
          </a:p>
        </p:txBody>
      </p:sp>
      <p:sp>
        <p:nvSpPr>
          <p:cNvPr id="123" name="Shape 123"/>
          <p:cNvSpPr/>
          <p:nvPr/>
        </p:nvSpPr>
        <p:spPr>
          <a:xfrm>
            <a:off x="6191250" y="3762375"/>
            <a:ext cx="4000500" cy="1381125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</p:sp>
      <p:pic>
        <p:nvPicPr>
          <p:cNvPr id="153" name="Image 153"/>
          <p:cNvPicPr/>
          <p:nvPr/>
        </p:nvPicPr>
        <p:blipFill>
          <a:blip r:embed="rId4"/>
          <a:stretch>
            <a:fillRect/>
          </a:stretch>
        </p:blipFill>
        <p:spPr>
          <a:xfrm>
            <a:off x="6457950" y="4086225"/>
            <a:ext cx="704850" cy="704850"/>
          </a:xfrm>
          <a:prstGeom prst="rect">
            <a:avLst/>
          </a:prstGeom>
        </p:spPr>
      </p:pic>
      <p:sp>
        <p:nvSpPr>
          <p:cNvPr id="173" name="Shape 173"/>
          <p:cNvSpPr/>
          <p:nvPr/>
        </p:nvSpPr>
        <p:spPr>
          <a:xfrm>
            <a:off x="7410450" y="4086225"/>
            <a:ext cx="2190750" cy="2857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2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数字人框架</a:t>
            </a:r>
            <a:endParaRPr lang="zh-CN"/>
          </a:p>
        </p:txBody>
      </p:sp>
      <p:sp>
        <p:nvSpPr>
          <p:cNvPr id="193" name="Shape 193"/>
          <p:cNvSpPr/>
          <p:nvPr/>
        </p:nvSpPr>
        <p:spPr>
          <a:xfrm>
            <a:off x="7410450" y="4476750"/>
            <a:ext cx="2286000" cy="36195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zh-CN" sz="15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可基于动画资源实现口型示范与舌位展示</a:t>
            </a:r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14350" y="323850"/>
            <a:ext cx="495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6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66800" y="381000"/>
            <a:ext cx="495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ClrTx/>
              <a:buSzTx/>
              <a:buFontTx/>
              <a:def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lang="zh-CN" sz="110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面向儿童英语发音的数字人口型与舌位可视化纠错系统</a:t>
            </a:r>
            <a:endParaRPr lang="zh-CN" sz="110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876300"/>
            <a:ext cx="7239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850" b="1">
                <a:solidFill>
                  <a:srgbClr val="111827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项目计划与成果</a:t>
            </a:r>
            <a:endParaRPr sz="2850" b="1">
              <a:solidFill>
                <a:srgbClr val="111827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1466850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按立项报告同步：上半部分为实施进度，下半部分为预期交付物。</a:t>
            </a:r>
            <a:endParaRPr sz="15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0000" y="2152650"/>
            <a:ext cx="8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2026.06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需求调研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936175" y="2743200"/>
            <a:ext cx="247650" cy="2476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40975" y="2867025"/>
            <a:ext cx="509025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728550" y="27622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900000" y="2152650"/>
            <a:ext cx="8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2026.07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架构设计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2186175" y="2743200"/>
            <a:ext cx="247650" cy="2476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490975" y="2867025"/>
            <a:ext cx="509025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978550" y="27622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50000" y="2152650"/>
            <a:ext cx="8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2026.08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Android基础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3436175" y="2743200"/>
            <a:ext cx="247650" cy="2476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740975" y="2867025"/>
            <a:ext cx="509025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228550" y="27622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400000" y="2152650"/>
            <a:ext cx="8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2026.09</a:t>
            </a:r>
            <a:endParaRPr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录音播放</a:t>
            </a:r>
            <a:endParaRPr sz="135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4686175" y="2743200"/>
            <a:ext cx="247650" cy="2476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4990975" y="2867025"/>
            <a:ext cx="509025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5478550" y="27622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650000" y="2152650"/>
            <a:ext cx="8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发音评测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5936175" y="2743200"/>
            <a:ext cx="247650" cy="2476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240975" y="2867025"/>
            <a:ext cx="509025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6728550" y="27622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900000" y="2152650"/>
            <a:ext cx="8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2026.11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错误诊断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7186175" y="2743200"/>
            <a:ext cx="247650" cy="2476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850000" y="4171950"/>
            <a:ext cx="219075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116700" y="436245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软件系统成果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116700" y="480060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Android可运行原型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3460000" y="4171950"/>
            <a:ext cx="219075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3726700" y="436245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软件程序与文档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726700" y="480060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源代码、设计文档、测试报告、说明书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070000" y="4171950"/>
            <a:ext cx="219075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6336700" y="436245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59E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研究报告</a:t>
            </a:r>
            <a:endParaRPr sz="1800" b="1">
              <a:solidFill>
                <a:srgbClr val="F59E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336700" y="480060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项目研究报告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150000" y="2152650"/>
            <a:ext cx="8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2027.03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口型舌位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椭圆 41"/>
          <p:cNvSpPr>
            <a:spLocks noGrp="1"/>
          </p:cNvSpPr>
          <p:nvPr/>
        </p:nvSpPr>
        <p:spPr>
          <a:xfrm>
            <a:off x="8436175" y="2743200"/>
            <a:ext cx="247650" cy="2476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9400000" y="2152650"/>
            <a:ext cx="8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2027.04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集成测试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椭圆 43"/>
          <p:cNvSpPr>
            <a:spLocks noGrp="1"/>
          </p:cNvSpPr>
          <p:nvPr/>
        </p:nvSpPr>
        <p:spPr>
          <a:xfrm>
            <a:off x="9686175" y="2743200"/>
            <a:ext cx="247650" cy="2476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10650000" y="2152650"/>
            <a:ext cx="820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2027.05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结题答辩</a:t>
            </a:r>
            <a:endParaRPr sz="135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椭圆 45"/>
          <p:cNvSpPr>
            <a:spLocks noGrp="1"/>
          </p:cNvSpPr>
          <p:nvPr/>
        </p:nvSpPr>
        <p:spPr>
          <a:xfrm>
            <a:off x="10936175" y="2743200"/>
            <a:ext cx="247650" cy="247650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7490975" y="2867025"/>
            <a:ext cx="509025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/>
          <p:cNvSpPr>
            <a:spLocks noGrp="1"/>
          </p:cNvSpPr>
          <p:nvPr/>
        </p:nvSpPr>
        <p:spPr>
          <a:xfrm>
            <a:off x="7978550" y="27622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矩形 48"/>
          <p:cNvSpPr>
            <a:spLocks noGrp="1"/>
          </p:cNvSpPr>
          <p:nvPr/>
        </p:nvSpPr>
        <p:spPr>
          <a:xfrm>
            <a:off x="8740975" y="2867025"/>
            <a:ext cx="509025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9228550" y="27622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9990975" y="2867025"/>
            <a:ext cx="509025" cy="28575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10478550" y="27622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&gt;</a:t>
            </a:r>
            <a:endParaRPr sz="12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圆角矩形 52"/>
          <p:cNvSpPr>
            <a:spLocks noGrp="1"/>
          </p:cNvSpPr>
          <p:nvPr/>
        </p:nvSpPr>
        <p:spPr>
          <a:xfrm>
            <a:off x="8680000" y="4171950"/>
            <a:ext cx="2190750" cy="9906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8946700" y="4362450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563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学术与实践成果</a:t>
            </a:r>
            <a:endParaRPr sz="1800" b="1">
              <a:solidFill>
                <a:srgbClr val="2563E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8946700" y="4800600"/>
            <a:ext cx="1657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结题报告、答辩PPT、演示视频</a:t>
            </a:r>
            <a:endParaRPr sz="12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581400" y="1924050"/>
            <a:ext cx="504825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000" b="1">
                <a:solidFill>
                  <a:srgbClr val="2563E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2563E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听得到评分</a:t>
            </a:r>
            <a:endParaRPr sz="3000" b="1">
              <a:solidFill>
                <a:srgbClr val="2563E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3000" b="1">
                <a:solidFill>
                  <a:srgbClr val="2563E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2563E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看得到口型</a:t>
            </a:r>
            <a:endParaRPr sz="3000" b="1">
              <a:solidFill>
                <a:srgbClr val="2563E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  <a:p>
            <a:pPr algn="ctr">
              <a:defRPr sz="3000" b="1">
                <a:solidFill>
                  <a:srgbClr val="2563E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3000" b="1">
                <a:solidFill>
                  <a:srgbClr val="2563EB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练得到提升</a:t>
            </a:r>
            <a:endParaRPr sz="3000" b="1">
              <a:solidFill>
                <a:srgbClr val="2563EB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095750" y="3695700"/>
            <a:ext cx="4000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构建儿童英语发音智能干预平台</a:t>
            </a:r>
            <a:endParaRPr sz="150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429750" y="57531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谢谢老师</a:t>
            </a:r>
            <a:endParaRPr sz="13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def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请批评指正</a:t>
            </a:r>
            <a:endParaRPr sz="1350" b="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WZlNmMyMzZiZDc5MzI0MDU2MGMyOTg5YTllMWEzZTE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1310</Words>
  <Application>WPS 演示</Application>
  <PresentationFormat>Converted Presentation</PresentationFormat>
  <Paragraphs>285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Microsoft YaHei UI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春秋的春秋</cp:lastModifiedBy>
  <cp:revision>5</cp:revision>
  <dcterms:created xsi:type="dcterms:W3CDTF">2026-06-02T10:53:00Z</dcterms:created>
  <dcterms:modified xsi:type="dcterms:W3CDTF">2026-06-03T02:14:27Z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48D958E535CC4825827486706613B920</vt:lpwstr>
  </property>
  <property fmtid="{D5CDD505-2E9C-101B-9397-08002B2CF9AE}" pid="3" name="KSOProductBuildVer">
    <vt:lpwstr>2052-11.1.0.12165</vt:lpwstr>
  </property>
</Properties>
</file>